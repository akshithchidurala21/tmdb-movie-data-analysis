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9" r:id="rId3"/>
    <p:sldId id="258" r:id="rId4"/>
    <p:sldId id="260" r:id="rId5"/>
    <p:sldId id="261" r:id="rId6"/>
    <p:sldId id="262" r:id="rId7"/>
    <p:sldId id="263" r:id="rId8"/>
    <p:sldId id="280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6" r:id="rId19"/>
    <p:sldId id="277" r:id="rId20"/>
    <p:sldId id="278" r:id="rId21"/>
    <p:sldId id="259" r:id="rId22"/>
  </p:sldIdLst>
  <p:sldSz cx="12192000" cy="6858000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EBF6A-8E1D-485E-BADF-EA282F027E87}" v="1458" dt="2025-11-08T19:08:12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995086" y="3948895"/>
            <a:ext cx="9797733" cy="32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endParaRPr lang="en-IN" sz="3200" dirty="0" err="1">
              <a:latin typeface="Times New Roman"/>
              <a:ea typeface="Calibri"/>
              <a:cs typeface="Calibri"/>
            </a:endParaRPr>
          </a:p>
          <a:p>
            <a:pPr algn="ctr"/>
            <a:r>
              <a:rPr lang="en-IN" sz="3200" b="1" dirty="0">
                <a:latin typeface="Times New Roman"/>
                <a:ea typeface="Calibri"/>
                <a:cs typeface="Calibri"/>
              </a:rPr>
              <a:t>THE MOVIE DATABASE </a:t>
            </a: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2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  <a:p>
            <a:pPr algn="ctr"/>
            <a:endParaRPr lang="en-IN" sz="1000" dirty="0">
              <a:solidFill>
                <a:schemeClr val="dk1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6FFA4-3F0B-A89E-7413-05CB2D69E501}"/>
              </a:ext>
            </a:extLst>
          </p:cNvPr>
          <p:cNvSpPr txBox="1"/>
          <p:nvPr/>
        </p:nvSpPr>
        <p:spPr>
          <a:xfrm>
            <a:off x="722192" y="5587894"/>
            <a:ext cx="103484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</a:rPr>
              <a:t>Title:</a:t>
            </a:r>
            <a:r>
              <a:rPr lang="en-US" b="1" dirty="0"/>
              <a:t> </a:t>
            </a:r>
            <a:r>
              <a:rPr lang="en-US" sz="2400" dirty="0">
                <a:latin typeface="Times New Roman"/>
                <a:cs typeface="Times New Roman"/>
              </a:rPr>
              <a:t>Web Scrapping and Exploratory Data Analysis of The Movie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DEC1B6-B71B-ABBD-6185-16ACB9BBF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309" y="3662218"/>
            <a:ext cx="861290" cy="8612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353F-B380-8B98-C01D-3A525B58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  <a:latin typeface="Times New Roman"/>
                <a:ea typeface="Lato Black"/>
                <a:cs typeface="Lato Black"/>
              </a:rPr>
              <a:t>About Us</a:t>
            </a:r>
            <a:endParaRPr lang="en-US" b="1" dirty="0"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17505-9987-ABF1-1EA7-CB1845B28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75534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/>
              </a:rPr>
              <a:t>We are </a:t>
            </a:r>
            <a:r>
              <a:rPr lang="en-US" b="1" dirty="0">
                <a:latin typeface="Times New Roman"/>
              </a:rPr>
              <a:t>Akshith </a:t>
            </a:r>
            <a:r>
              <a:rPr lang="en-US" b="1" dirty="0" err="1">
                <a:latin typeface="Times New Roman"/>
              </a:rPr>
              <a:t>Chidurala</a:t>
            </a:r>
            <a:r>
              <a:rPr lang="en-US" b="1" dirty="0">
                <a:latin typeface="Times New Roman"/>
              </a:rPr>
              <a:t> , Pavan Adithya</a:t>
            </a:r>
            <a:r>
              <a:rPr lang="en-US" dirty="0">
                <a:latin typeface="Times New Roman"/>
              </a:rPr>
              <a:t> </a:t>
            </a:r>
            <a:r>
              <a:rPr lang="en-US" dirty="0" err="1">
                <a:latin typeface="Times New Roman"/>
              </a:rPr>
              <a:t>B.Tech</a:t>
            </a:r>
            <a:r>
              <a:rPr lang="en-US" dirty="0">
                <a:latin typeface="Times New Roman"/>
              </a:rPr>
              <a:t>, Computer Science Engineering students from </a:t>
            </a:r>
            <a:r>
              <a:rPr lang="en-US" b="1" dirty="0">
                <a:latin typeface="Times New Roman"/>
              </a:rPr>
              <a:t>GITAM </a:t>
            </a:r>
            <a:r>
              <a:rPr lang="en-US" dirty="0">
                <a:latin typeface="Times New Roman"/>
              </a:rPr>
              <a:t>University, passionate about </a:t>
            </a:r>
            <a:r>
              <a:rPr lang="en-US" b="1" dirty="0">
                <a:latin typeface="Times New Roman"/>
              </a:rPr>
              <a:t>data analytics and visualization</a:t>
            </a:r>
            <a:r>
              <a:rPr lang="en-US" dirty="0">
                <a:latin typeface="Times New Roman"/>
              </a:rPr>
              <a:t>.</a:t>
            </a:r>
          </a:p>
          <a:p>
            <a:r>
              <a:rPr lang="en-US" dirty="0">
                <a:latin typeface="Times New Roman"/>
                <a:cs typeface="Times New Roman"/>
              </a:rPr>
              <a:t>Continuously learning to enhance expertise in </a:t>
            </a:r>
            <a:r>
              <a:rPr lang="en-US" b="1" dirty="0">
                <a:latin typeface="Times New Roman"/>
                <a:cs typeface="Times New Roman"/>
              </a:rPr>
              <a:t>data science and analytics tools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r>
              <a:rPr lang="en-US" sz="2400" b="1" dirty="0">
                <a:latin typeface="Times New Roman"/>
                <a:cs typeface="Times New Roman"/>
              </a:rPr>
              <a:t>GITHUB </a:t>
            </a:r>
            <a:r>
              <a:rPr lang="en-US" sz="2400" dirty="0">
                <a:latin typeface="Times New Roman"/>
                <a:cs typeface="Times New Roman"/>
              </a:rPr>
              <a:t>-  </a:t>
            </a:r>
            <a:r>
              <a:rPr lang="en-US" sz="2400" dirty="0"/>
              <a:t>https://github.com/VU21CSEN0100931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 dirty="0">
                <a:latin typeface="Times New Roman"/>
                <a:cs typeface="Times New Roman"/>
              </a:rPr>
              <a:t>LINKEDIN </a:t>
            </a:r>
            <a:r>
              <a:rPr lang="en-US" sz="2400" dirty="0"/>
              <a:t>https://www.linkedin.com/in/akshith-chidurala-752a09272/</a:t>
            </a:r>
            <a:r>
              <a:rPr lang="en-US" sz="2400" b="1" dirty="0">
                <a:latin typeface="Times New Roman"/>
                <a:cs typeface="Times New Roman"/>
              </a:rPr>
              <a:t>-</a:t>
            </a:r>
            <a:endParaRPr lang="en-US" sz="2400" b="1">
              <a:latin typeface="Times New Roman"/>
              <a:cs typeface="Times New Roman"/>
            </a:endParaRPr>
          </a:p>
          <a:p>
            <a:r>
              <a:rPr lang="en-US" sz="2400" b="1" dirty="0">
                <a:latin typeface="Times New Roman"/>
                <a:cs typeface="Times New Roman"/>
              </a:rPr>
              <a:t>GITHUB</a:t>
            </a:r>
            <a:r>
              <a:rPr lang="en-US" sz="2400" dirty="0">
                <a:latin typeface="Times New Roman"/>
                <a:cs typeface="Times New Roman"/>
              </a:rPr>
              <a:t>- </a:t>
            </a:r>
            <a:r>
              <a:rPr lang="en-US" sz="2400" dirty="0"/>
              <a:t>https://github.com/adithya0510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 dirty="0">
                <a:latin typeface="Times New Roman"/>
                <a:cs typeface="Times New Roman"/>
              </a:rPr>
              <a:t>LINKEDIN- </a:t>
            </a:r>
            <a:r>
              <a:rPr lang="en-US" sz="2400" dirty="0"/>
              <a:t>http://www.linkedin.com/in/pavan-adithya-43762627a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b="1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974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543290" y="2607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Times New Roman"/>
              </a:rPr>
              <a:t>Preface:</a:t>
            </a: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834971" y="1572667"/>
            <a:ext cx="10527145" cy="469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sz="2400" dirty="0">
                <a:latin typeface="Wingdings"/>
                <a:sym typeface="Wingdings"/>
              </a:rPr>
              <a:t>Ø</a:t>
            </a:r>
            <a:r>
              <a:rPr lang="en-US" sz="2400" b="1" dirty="0">
                <a:latin typeface="Times New Roman"/>
                <a:cs typeface="Times New Roman"/>
              </a:rPr>
              <a:t>INTRODUCTION</a:t>
            </a:r>
            <a:endParaRPr lang="en-US" sz="2400" dirty="0"/>
          </a:p>
          <a:p>
            <a:pPr>
              <a:buNone/>
            </a:pPr>
            <a:r>
              <a:rPr lang="en-US" sz="2400" dirty="0">
                <a:latin typeface="Wingdings"/>
                <a:sym typeface="Wingdings"/>
              </a:rPr>
              <a:t>Ø</a:t>
            </a:r>
            <a:r>
              <a:rPr lang="en-US" sz="2400" b="1" dirty="0">
                <a:latin typeface="Times New Roman"/>
                <a:cs typeface="Times New Roman"/>
              </a:rPr>
              <a:t>BUSINESS PROBLEM </a:t>
            </a:r>
            <a:endParaRPr lang="en-US" sz="2400"/>
          </a:p>
          <a:p>
            <a:pPr>
              <a:buNone/>
            </a:pPr>
            <a:r>
              <a:rPr lang="en-US" sz="2400" dirty="0">
                <a:latin typeface="Wingdings"/>
                <a:sym typeface="Wingdings"/>
              </a:rPr>
              <a:t>Ø</a:t>
            </a:r>
            <a:r>
              <a:rPr lang="en-US" sz="2400" b="1" dirty="0">
                <a:latin typeface="Times New Roman"/>
                <a:cs typeface="Times New Roman"/>
              </a:rPr>
              <a:t>OBJECTIVE</a:t>
            </a:r>
            <a:endParaRPr lang="en-US" sz="2400"/>
          </a:p>
          <a:p>
            <a:pPr>
              <a:buNone/>
            </a:pPr>
            <a:r>
              <a:rPr lang="en-US" sz="2400" dirty="0">
                <a:latin typeface="Wingdings"/>
                <a:sym typeface="Wingdings"/>
              </a:rPr>
              <a:t>Ø</a:t>
            </a:r>
            <a:r>
              <a:rPr lang="en-US" sz="2400" b="1" dirty="0">
                <a:latin typeface="Times New Roman"/>
                <a:cs typeface="Times New Roman"/>
              </a:rPr>
              <a:t>TOOLS USED</a:t>
            </a:r>
            <a:endParaRPr lang="en-US" sz="2400"/>
          </a:p>
          <a:p>
            <a:pPr>
              <a:buNone/>
            </a:pPr>
            <a:r>
              <a:rPr lang="en-US" sz="2400" dirty="0">
                <a:latin typeface="Wingdings"/>
                <a:sym typeface="Wingdings"/>
              </a:rPr>
              <a:t>Ø</a:t>
            </a:r>
            <a:r>
              <a:rPr lang="en-US" sz="2400" b="1" dirty="0">
                <a:latin typeface="Times New Roman"/>
                <a:cs typeface="Times New Roman"/>
              </a:rPr>
              <a:t>WEB SCRAPPING</a:t>
            </a:r>
            <a:endParaRPr lang="en-US" sz="2400"/>
          </a:p>
          <a:p>
            <a:pPr>
              <a:buNone/>
            </a:pPr>
            <a:r>
              <a:rPr lang="en-US" sz="2400" dirty="0">
                <a:latin typeface="Wingdings"/>
                <a:sym typeface="Wingdings"/>
              </a:rPr>
              <a:t>Ø</a:t>
            </a:r>
            <a:r>
              <a:rPr lang="en-US" sz="2400" b="1" dirty="0">
                <a:latin typeface="Times New Roman"/>
                <a:cs typeface="Times New Roman"/>
              </a:rPr>
              <a:t>DATA CLEANING STEPS</a:t>
            </a:r>
            <a:endParaRPr lang="en-US" sz="2400"/>
          </a:p>
          <a:p>
            <a:pPr>
              <a:buNone/>
            </a:pPr>
            <a:r>
              <a:rPr lang="en-US" sz="2400" dirty="0">
                <a:latin typeface="Wingdings"/>
                <a:sym typeface="Wingdings"/>
              </a:rPr>
              <a:t>Ø</a:t>
            </a:r>
            <a:r>
              <a:rPr lang="en-US" sz="2400" b="1" dirty="0">
                <a:latin typeface="Times New Roman"/>
                <a:cs typeface="Times New Roman"/>
              </a:rPr>
              <a:t>DATA VISUALIZATION</a:t>
            </a:r>
            <a:endParaRPr lang="en-US" sz="2400"/>
          </a:p>
          <a:p>
            <a:pPr>
              <a:buFont typeface="Wingdings"/>
              <a:buChar char="Ø"/>
            </a:pPr>
            <a:r>
              <a:rPr lang="en-US" sz="2400" b="1" dirty="0">
                <a:latin typeface="Times New Roman"/>
                <a:cs typeface="Times New Roman"/>
              </a:rPr>
              <a:t>KEY-BUSINESS QUESTIONS</a:t>
            </a:r>
          </a:p>
          <a:p>
            <a:pPr>
              <a:buNone/>
            </a:pPr>
            <a:r>
              <a:rPr lang="en-US" sz="2400" dirty="0">
                <a:latin typeface="Wingdings"/>
                <a:sym typeface="Wingdings"/>
              </a:rPr>
              <a:t>Ø</a:t>
            </a:r>
            <a:r>
              <a:rPr lang="en-US" sz="2400" b="1" dirty="0">
                <a:latin typeface="Times New Roman"/>
                <a:cs typeface="Times New Roman"/>
              </a:rPr>
              <a:t>CONCLUSION</a:t>
            </a:r>
            <a:endParaRPr lang="en-US" sz="2400" dirty="0"/>
          </a:p>
          <a:p>
            <a:pPr>
              <a:buFont typeface="Wingdings"/>
              <a:buChar char="Ø"/>
            </a:pPr>
            <a:r>
              <a:rPr lang="en-US" sz="2400" b="1" dirty="0">
                <a:latin typeface="Times New Roman"/>
                <a:cs typeface="Times New Roman"/>
              </a:rPr>
              <a:t>EXPERIENCE &amp; CHALLANGES</a:t>
            </a:r>
          </a:p>
          <a:p>
            <a:pPr marL="228600" indent="-13081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ECD16-133B-FEFB-7F35-1399CAE7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</a:rPr>
              <a:t>Introduction: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379E1-D7EE-FB17-8BBB-47FCB1B08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4291" y="1710170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/>
              </a:rPr>
              <a:t>The film industry generates massive amounts of data every year — from production budgets to audience ratings and box office collections.</a:t>
            </a:r>
          </a:p>
          <a:p>
            <a:r>
              <a:rPr lang="en-US" sz="2400" dirty="0">
                <a:latin typeface="Times New Roman"/>
              </a:rPr>
              <a:t>Platforms like </a:t>
            </a:r>
            <a:r>
              <a:rPr lang="en-US" sz="2400" b="1" dirty="0">
                <a:latin typeface="Times New Roman"/>
              </a:rPr>
              <a:t>The Movie Database (TMDB)</a:t>
            </a:r>
            <a:r>
              <a:rPr lang="en-US" sz="2400" dirty="0">
                <a:latin typeface="Times New Roman"/>
              </a:rPr>
              <a:t> provide valuable public datasets that reflect audience preferences, global movie trends, and performance indicators.</a:t>
            </a:r>
            <a:endParaRPr lang="en-US" sz="2400"/>
          </a:p>
          <a:p>
            <a:r>
              <a:rPr lang="en-US" sz="2400" dirty="0">
                <a:latin typeface="Times New Roman"/>
              </a:rPr>
              <a:t>This project focuses on exploring and analyzing TMDB movie data to understand how </a:t>
            </a:r>
            <a:r>
              <a:rPr lang="en-US" sz="2400" b="1" dirty="0">
                <a:latin typeface="Times New Roman"/>
              </a:rPr>
              <a:t>different features like ratings, popularity, release year, and language</a:t>
            </a:r>
            <a:r>
              <a:rPr lang="en-US" sz="2400" dirty="0">
                <a:latin typeface="Times New Roman"/>
              </a:rPr>
              <a:t> influence a movie’s success.</a:t>
            </a:r>
          </a:p>
          <a:p>
            <a:r>
              <a:rPr lang="en-US" sz="2400" dirty="0">
                <a:latin typeface="Times New Roman"/>
              </a:rPr>
              <a:t>Through data analysis and visualization, the project aims to uncover patterns and insights that can be useful for </a:t>
            </a:r>
            <a:r>
              <a:rPr lang="en-US" sz="2400" b="1" dirty="0">
                <a:latin typeface="Times New Roman"/>
              </a:rPr>
              <a:t>movie studios, streaming services, and audiences</a:t>
            </a:r>
            <a:r>
              <a:rPr lang="en-US" sz="2400" dirty="0">
                <a:latin typeface="Times New Roman"/>
              </a:rPr>
              <a:t> alike.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001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212F-0C8F-77ED-FA49-65D3F1DD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</a:rPr>
              <a:t>Business Problem: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0DA10-CB80-7A30-370A-5EEFA756D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908146" cy="4351338"/>
          </a:xfrm>
        </p:spPr>
        <p:txBody>
          <a:bodyPr/>
          <a:lstStyle/>
          <a:p>
            <a:r>
              <a:rPr lang="en-US" sz="2400" dirty="0">
                <a:latin typeface="Times New Roman"/>
              </a:rPr>
              <a:t>The movie industry faces a major challenge in understanding </a:t>
            </a:r>
            <a:r>
              <a:rPr lang="en-US" sz="2400" b="1" dirty="0">
                <a:latin typeface="Times New Roman"/>
              </a:rPr>
              <a:t>what drives audience engagement and movie success</a:t>
            </a:r>
            <a:r>
              <a:rPr lang="en-US" sz="2400" dirty="0">
                <a:latin typeface="Times New Roman"/>
              </a:rPr>
              <a:t>.</a:t>
            </a:r>
            <a:br>
              <a:rPr lang="en-US" sz="2400" dirty="0">
                <a:latin typeface="Times New Roman"/>
              </a:rPr>
            </a:br>
            <a:r>
              <a:rPr lang="en-US" sz="2400" dirty="0">
                <a:latin typeface="Times New Roman"/>
              </a:rPr>
              <a:t> While thousands of movies are released every year, only a few achieve high ratings and widespread popularity.</a:t>
            </a:r>
          </a:p>
          <a:p>
            <a:r>
              <a:rPr lang="en-US" sz="2400" dirty="0">
                <a:latin typeface="Times New Roman"/>
              </a:rPr>
              <a:t>By analyzing TMDB movie data, we can:</a:t>
            </a:r>
          </a:p>
          <a:p>
            <a:pPr marL="114300" indent="0">
              <a:buNone/>
            </a:pPr>
            <a:r>
              <a:rPr lang="en-US" sz="2400" dirty="0">
                <a:latin typeface="Times New Roman"/>
              </a:rPr>
              <a:t>   </a:t>
            </a:r>
            <a:r>
              <a:rPr lang="en-US" sz="2400" dirty="0">
                <a:latin typeface="Wingdings"/>
                <a:sym typeface="Wingdings"/>
              </a:rPr>
              <a:t> </a:t>
            </a:r>
            <a:r>
              <a:rPr lang="en-US" sz="2400" dirty="0">
                <a:latin typeface="Times New Roman"/>
              </a:rPr>
              <a:t>Identify </a:t>
            </a:r>
            <a:r>
              <a:rPr lang="en-US" sz="2400" b="1" dirty="0">
                <a:latin typeface="Times New Roman"/>
              </a:rPr>
              <a:t>factors that influence ratings and popularity</a:t>
            </a:r>
            <a:r>
              <a:rPr lang="en-US" sz="2400" dirty="0">
                <a:latin typeface="Times New Roman"/>
              </a:rPr>
              <a:t>.</a:t>
            </a:r>
          </a:p>
          <a:p>
            <a:pPr marL="114300" indent="0">
              <a:buNone/>
            </a:pPr>
            <a:r>
              <a:rPr lang="en-US" sz="2400" dirty="0">
                <a:latin typeface="Times New Roman"/>
              </a:rPr>
              <a:t>      </a:t>
            </a:r>
            <a:r>
              <a:rPr lang="en-US" sz="2400" dirty="0">
                <a:latin typeface="Wingdings"/>
                <a:sym typeface="Wingdings"/>
              </a:rPr>
              <a:t> </a:t>
            </a:r>
            <a:r>
              <a:rPr lang="en-US" sz="2400" dirty="0">
                <a:latin typeface="Times New Roman"/>
              </a:rPr>
              <a:t>Understand </a:t>
            </a:r>
            <a:r>
              <a:rPr lang="en-US" sz="2400" b="1" dirty="0">
                <a:latin typeface="Times New Roman"/>
              </a:rPr>
              <a:t>audience preferences</a:t>
            </a:r>
            <a:r>
              <a:rPr lang="en-US" sz="2400" dirty="0">
                <a:latin typeface="Times New Roman"/>
              </a:rPr>
              <a:t> across years and languages.</a:t>
            </a:r>
          </a:p>
          <a:p>
            <a:pPr marL="114300" indent="0">
              <a:buNone/>
            </a:pPr>
            <a:r>
              <a:rPr lang="en-US" sz="2400" dirty="0">
                <a:latin typeface="Times New Roman"/>
              </a:rPr>
              <a:t>   </a:t>
            </a:r>
            <a:r>
              <a:rPr lang="en-US" sz="2400" dirty="0">
                <a:latin typeface="Wingdings"/>
                <a:sym typeface="Wingdings"/>
              </a:rPr>
              <a:t> </a:t>
            </a:r>
            <a:r>
              <a:rPr lang="en-US" sz="2400" dirty="0">
                <a:latin typeface="Times New Roman"/>
              </a:rPr>
              <a:t>Help </a:t>
            </a:r>
            <a:r>
              <a:rPr lang="en-US" sz="2400" b="1" dirty="0">
                <a:latin typeface="Times New Roman"/>
              </a:rPr>
              <a:t>production houses and streaming platforms</a:t>
            </a:r>
            <a:r>
              <a:rPr lang="en-US" sz="2400" dirty="0">
                <a:latin typeface="Times New Roman"/>
              </a:rPr>
              <a:t> make data-        driven decisions about content creation and marketing.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271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1BCB-3045-F18C-4977-A7E51255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DF5D6-97B1-5218-AF2D-C8681508A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/>
              </a:rPr>
              <a:t>To perform </a:t>
            </a:r>
            <a:r>
              <a:rPr lang="en-US" sz="2400" b="1" dirty="0">
                <a:latin typeface="Times New Roman"/>
              </a:rPr>
              <a:t>Exploratory Data Analysis (EDA)</a:t>
            </a:r>
            <a:r>
              <a:rPr lang="en-US" sz="2400" dirty="0">
                <a:latin typeface="Times New Roman"/>
              </a:rPr>
              <a:t> on TMDB movie data.</a:t>
            </a:r>
          </a:p>
          <a:p>
            <a:r>
              <a:rPr lang="en-US" sz="2400" dirty="0">
                <a:latin typeface="Times New Roman"/>
              </a:rPr>
              <a:t>To identify </a:t>
            </a:r>
            <a:r>
              <a:rPr lang="en-US" sz="2400" b="1" dirty="0">
                <a:latin typeface="Times New Roman"/>
              </a:rPr>
              <a:t>key factors affecting movie ratings, popularity, and audience engagement.</a:t>
            </a:r>
            <a:endParaRPr lang="en-US" sz="2400" dirty="0">
              <a:latin typeface="Times New Roman"/>
            </a:endParaRPr>
          </a:p>
          <a:p>
            <a:r>
              <a:rPr lang="en-US" sz="2400" dirty="0">
                <a:latin typeface="Times New Roman"/>
              </a:rPr>
              <a:t>To visualize insights through meaningful charts and graphs for business interpretation.</a:t>
            </a:r>
          </a:p>
          <a:p>
            <a:r>
              <a:rPr lang="en-US" sz="2400" dirty="0">
                <a:latin typeface="Times New Roman"/>
              </a:rPr>
              <a:t>To understand </a:t>
            </a:r>
            <a:r>
              <a:rPr lang="en-US" sz="2400" b="1" dirty="0">
                <a:latin typeface="Times New Roman"/>
              </a:rPr>
              <a:t>temporal trends</a:t>
            </a:r>
            <a:r>
              <a:rPr lang="en-US" sz="2400" dirty="0">
                <a:latin typeface="Times New Roman"/>
              </a:rPr>
              <a:t> in movie performance across different years and decades.</a:t>
            </a:r>
          </a:p>
          <a:p>
            <a:r>
              <a:rPr lang="en-US" sz="2400" dirty="0">
                <a:latin typeface="Times New Roman"/>
              </a:rPr>
              <a:t>To derive </a:t>
            </a:r>
            <a:r>
              <a:rPr lang="en-US" sz="2400" b="1" dirty="0">
                <a:latin typeface="Times New Roman"/>
              </a:rPr>
              <a:t>data-driven insights</a:t>
            </a:r>
            <a:r>
              <a:rPr lang="en-US" sz="2400" dirty="0">
                <a:latin typeface="Times New Roman"/>
              </a:rPr>
              <a:t> that can assist production houses, OTT platforms, and analysts in making informed content and marketing decisions.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5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CB72-FDBA-9443-39F8-71BFE80E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</a:rPr>
              <a:t>Web Scraping: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525B3-1A0A-6E0A-60E1-56376EBA1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/>
              </a:rPr>
              <a:t>The movie data was </a:t>
            </a:r>
            <a:r>
              <a:rPr lang="en-US" sz="2400" b="1" dirty="0">
                <a:latin typeface="Times New Roman"/>
              </a:rPr>
              <a:t>collected using the TMDB API</a:t>
            </a:r>
            <a:r>
              <a:rPr lang="en-US" sz="2400" dirty="0">
                <a:latin typeface="Times New Roman"/>
              </a:rPr>
              <a:t> instead of traditional HTML scraping.</a:t>
            </a:r>
          </a:p>
          <a:p>
            <a:r>
              <a:rPr lang="en-US" sz="2400" dirty="0">
                <a:latin typeface="Times New Roman"/>
              </a:rPr>
              <a:t>A </a:t>
            </a:r>
            <a:r>
              <a:rPr lang="en-US" sz="2400" b="1" dirty="0">
                <a:latin typeface="Times New Roman"/>
              </a:rPr>
              <a:t>unique API key</a:t>
            </a:r>
            <a:r>
              <a:rPr lang="en-US" sz="2400" dirty="0">
                <a:latin typeface="Times New Roman"/>
              </a:rPr>
              <a:t> was used to access and retrieve movie details programmatically.</a:t>
            </a:r>
          </a:p>
          <a:p>
            <a:r>
              <a:rPr lang="en-US" sz="2400" dirty="0">
                <a:latin typeface="Times New Roman"/>
              </a:rPr>
              <a:t>Data was fetched in </a:t>
            </a:r>
            <a:r>
              <a:rPr lang="en-US" sz="2400" b="1" dirty="0">
                <a:latin typeface="Times New Roman"/>
              </a:rPr>
              <a:t>JSON format</a:t>
            </a:r>
            <a:r>
              <a:rPr lang="en-US" sz="2400" dirty="0">
                <a:latin typeface="Times New Roman"/>
              </a:rPr>
              <a:t> and converted into a </a:t>
            </a:r>
            <a:r>
              <a:rPr lang="en-US" sz="2400" b="1" dirty="0">
                <a:latin typeface="Times New Roman"/>
              </a:rPr>
              <a:t>structured Pandas </a:t>
            </a:r>
            <a:r>
              <a:rPr lang="en-US" sz="2400" b="1" err="1">
                <a:latin typeface="Times New Roman"/>
              </a:rPr>
              <a:t>DataFrame</a:t>
            </a:r>
            <a:r>
              <a:rPr lang="en-US" sz="2400" dirty="0">
                <a:latin typeface="Times New Roman"/>
              </a:rPr>
              <a:t> for analysis.</a:t>
            </a:r>
          </a:p>
          <a:p>
            <a:r>
              <a:rPr lang="en-US" sz="2400" dirty="0">
                <a:latin typeface="Times New Roman"/>
              </a:rPr>
              <a:t>Collected the extracted data into a </a:t>
            </a:r>
            <a:r>
              <a:rPr lang="en-US" sz="2400" b="1" dirty="0">
                <a:latin typeface="Times New Roman"/>
              </a:rPr>
              <a:t>structured dataset (CSV format)</a:t>
            </a:r>
            <a:r>
              <a:rPr lang="en-US" sz="2400" dirty="0">
                <a:latin typeface="Times New Roman"/>
              </a:rPr>
              <a:t> for further </a:t>
            </a:r>
            <a:r>
              <a:rPr lang="en-US" sz="2400" b="1" dirty="0">
                <a:latin typeface="Times New Roman"/>
              </a:rPr>
              <a:t>data cleaning and analysis using Pandas</a:t>
            </a:r>
            <a:r>
              <a:rPr lang="en-US" sz="2400" dirty="0">
                <a:latin typeface="Times New Roman"/>
              </a:rPr>
              <a:t>.</a:t>
            </a:r>
          </a:p>
          <a:p>
            <a:r>
              <a:rPr lang="en-US" sz="2400" dirty="0">
                <a:latin typeface="Times New Roman"/>
              </a:rPr>
              <a:t>Ensured </a:t>
            </a:r>
            <a:r>
              <a:rPr lang="en-US" sz="2400" b="1" dirty="0">
                <a:latin typeface="Times New Roman"/>
              </a:rPr>
              <a:t>data integrity and accuracy</a:t>
            </a:r>
            <a:r>
              <a:rPr lang="en-US" sz="2400" dirty="0">
                <a:latin typeface="Times New Roman"/>
              </a:rPr>
              <a:t> by validating the API responses and removing duplicate movie entries.</a:t>
            </a:r>
          </a:p>
        </p:txBody>
      </p:sp>
    </p:spTree>
    <p:extLst>
      <p:ext uri="{BB962C8B-B14F-4D97-AF65-F5344CB8AC3E}">
        <p14:creationId xmlns:p14="http://schemas.microsoft.com/office/powerpoint/2010/main" val="2899942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9DF01DE-4C9B-AB99-EE71-220024D52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48390"/>
            <a:ext cx="5375533" cy="554967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B529861-7984-041C-412A-BD7557D86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376" y="643467"/>
            <a:ext cx="508359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25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3F059-6C0D-F83A-9475-654B1CAE3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Dataset: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2CD6198-19A2-3DFB-80C4-FF117ADCD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73101"/>
            <a:ext cx="10905066" cy="41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76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F89A8-7B31-A86D-8A47-A19B4B968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Exploratory Data Analysis</a:t>
            </a:r>
            <a:endParaRPr lang="en-US" dirty="0"/>
          </a:p>
          <a:p>
            <a:endParaRPr lang="en-US" sz="3200" dirty="0"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9E6BB-4909-0043-2CF6-796FA702C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4625"/>
            <a:ext cx="10515600" cy="4732338"/>
          </a:xfrm>
        </p:spPr>
        <p:txBody>
          <a:bodyPr/>
          <a:lstStyle/>
          <a:p>
            <a:pPr marL="114300" indent="0">
              <a:buNone/>
            </a:pPr>
            <a:r>
              <a:rPr lang="en-US" sz="3200" b="1" dirty="0">
                <a:latin typeface="Times New Roman"/>
                <a:cs typeface="Times New Roman"/>
              </a:rPr>
              <a:t>1) Data cleaning steps:</a:t>
            </a:r>
            <a:endParaRPr lang="en-US" sz="2400" b="1" dirty="0">
              <a:latin typeface="Times New Roman"/>
            </a:endParaRPr>
          </a:p>
          <a:p>
            <a:r>
              <a:rPr lang="en-US" sz="2400" dirty="0">
                <a:latin typeface="Times New Roman"/>
              </a:rPr>
              <a:t>Removed duplicate and irrelevant rows.</a:t>
            </a:r>
            <a:endParaRPr lang="en-US" sz="2400"/>
          </a:p>
          <a:p>
            <a:r>
              <a:rPr lang="en-US" sz="2400" dirty="0">
                <a:latin typeface="Times New Roman"/>
              </a:rPr>
              <a:t>Checked for missing values and handled them appropriately.</a:t>
            </a:r>
            <a:endParaRPr lang="en-US" sz="2400">
              <a:latin typeface="Times New Roman"/>
            </a:endParaRPr>
          </a:p>
          <a:p>
            <a:r>
              <a:rPr lang="en-US" sz="2400" dirty="0">
                <a:latin typeface="Times New Roman"/>
              </a:rPr>
              <a:t>Converted data types (</a:t>
            </a:r>
            <a:r>
              <a:rPr lang="en-US" sz="2400" err="1">
                <a:latin typeface="Times New Roman"/>
              </a:rPr>
              <a:t>e.g.release_date</a:t>
            </a:r>
            <a:r>
              <a:rPr lang="en-US" sz="2400" dirty="0">
                <a:latin typeface="Times New Roman"/>
              </a:rPr>
              <a:t> → datetime, year → int).</a:t>
            </a:r>
            <a:endParaRPr lang="en-US" sz="2400">
              <a:latin typeface="Times New Roman"/>
            </a:endParaRPr>
          </a:p>
          <a:p>
            <a:r>
              <a:rPr lang="en-US" sz="2400" dirty="0">
                <a:latin typeface="Times New Roman"/>
              </a:rPr>
              <a:t>Derived additional features like </a:t>
            </a:r>
            <a:r>
              <a:rPr lang="en-US" sz="2400" err="1">
                <a:latin typeface="Times New Roman"/>
              </a:rPr>
              <a:t>movie_age</a:t>
            </a:r>
            <a:r>
              <a:rPr lang="en-US" sz="2400" dirty="0">
                <a:latin typeface="Times New Roman"/>
              </a:rPr>
              <a:t> and decade.</a:t>
            </a:r>
            <a:endParaRPr lang="en-US" sz="2400">
              <a:latin typeface="Times New Roman"/>
            </a:endParaRPr>
          </a:p>
          <a:p>
            <a:r>
              <a:rPr lang="en-US" sz="2400" dirty="0">
                <a:latin typeface="Times New Roman"/>
              </a:rPr>
              <a:t>Verified consistency across numerical and categorical attributes.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650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68176-EE58-80F4-F0BF-49C52BB79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52420"/>
            <a:ext cx="10515600" cy="4754749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2) Data Manipulation Steps:</a:t>
            </a:r>
            <a:endParaRPr lang="en-US" dirty="0"/>
          </a:p>
          <a:p>
            <a:pPr marL="114300" indent="0">
              <a:buNone/>
            </a:pPr>
            <a:endParaRPr lang="en-US" b="1" dirty="0"/>
          </a:p>
          <a:p>
            <a:r>
              <a:rPr lang="en-US" sz="2400" dirty="0">
                <a:latin typeface="Times New Roman"/>
              </a:rPr>
              <a:t>Grouped data by year, language, and popularity for trend analysis.</a:t>
            </a:r>
          </a:p>
          <a:p>
            <a:r>
              <a:rPr lang="en-US" sz="2400" dirty="0">
                <a:latin typeface="Times New Roman"/>
              </a:rPr>
              <a:t>Created categorical bins for ratings and popularity.</a:t>
            </a:r>
          </a:p>
          <a:p>
            <a:r>
              <a:rPr lang="en-US" sz="2400" dirty="0">
                <a:latin typeface="Times New Roman"/>
              </a:rPr>
              <a:t>Extracted insights using aggregated statistics such as mean rating per decade.</a:t>
            </a:r>
          </a:p>
          <a:p>
            <a:r>
              <a:rPr lang="en-US" sz="2400" dirty="0">
                <a:latin typeface="Times New Roman"/>
              </a:rPr>
              <a:t>Prepared subsets of the data for visualizations.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072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FFD4A-33E1-3928-A70E-B5BB2842E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82807"/>
            <a:ext cx="10515600" cy="5194156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b="1" dirty="0">
                <a:latin typeface="Times New Roman"/>
              </a:rPr>
              <a:t>3) Univariate Analysis:</a:t>
            </a:r>
          </a:p>
          <a:p>
            <a:pPr marL="114300" indent="0">
              <a:buNone/>
            </a:pPr>
            <a:endParaRPr lang="en-US" b="1" dirty="0">
              <a:latin typeface="Times New Roman"/>
            </a:endParaRPr>
          </a:p>
          <a:p>
            <a:pPr>
              <a:buNone/>
            </a:pPr>
            <a:r>
              <a:rPr lang="en-US" sz="1800" dirty="0">
                <a:latin typeface="Times New Roman"/>
              </a:rPr>
              <a:t>In the univariate analysis, various single-variable visualizations were performed to understand the overall distribution and behavior of movie attributes.</a:t>
            </a:r>
            <a:br>
              <a:rPr lang="en-US" sz="1800" dirty="0">
                <a:latin typeface="Times New Roman"/>
              </a:rPr>
            </a:br>
            <a:endParaRPr lang="en-US" sz="1800" dirty="0">
              <a:latin typeface="Times New Roman"/>
            </a:endParaRPr>
          </a:p>
          <a:p>
            <a:pPr>
              <a:buNone/>
            </a:pPr>
            <a:r>
              <a:rPr lang="en-US" sz="1800" dirty="0">
                <a:latin typeface="Times New Roman"/>
              </a:rPr>
              <a:t>I used </a:t>
            </a:r>
            <a:r>
              <a:rPr lang="en-US" sz="1800" b="1" dirty="0">
                <a:latin typeface="Times New Roman"/>
              </a:rPr>
              <a:t>histograms, count plots, and boxplots</a:t>
            </a:r>
            <a:r>
              <a:rPr lang="en-US" sz="1800" dirty="0">
                <a:latin typeface="Times New Roman"/>
              </a:rPr>
              <a:t> to analyze the distribution of continuous and categorical variables.</a:t>
            </a:r>
          </a:p>
          <a:p>
            <a:pPr marL="285750" indent="-285750"/>
            <a:r>
              <a:rPr lang="en-US" sz="1800" dirty="0">
                <a:latin typeface="Times New Roman"/>
              </a:rPr>
              <a:t>The </a:t>
            </a:r>
            <a:r>
              <a:rPr lang="en-US" sz="1800" b="1" dirty="0">
                <a:latin typeface="Times New Roman"/>
              </a:rPr>
              <a:t>rating</a:t>
            </a:r>
            <a:r>
              <a:rPr lang="en-US" sz="1800" dirty="0">
                <a:latin typeface="Times New Roman"/>
              </a:rPr>
              <a:t> distribution showed that most movies were rated between </a:t>
            </a:r>
            <a:r>
              <a:rPr lang="en-US" sz="1800" b="1" dirty="0">
                <a:latin typeface="Times New Roman"/>
              </a:rPr>
              <a:t>6.0 and 8.0</a:t>
            </a:r>
            <a:r>
              <a:rPr lang="en-US" sz="1800" dirty="0">
                <a:latin typeface="Times New Roman"/>
              </a:rPr>
              <a:t>, indicating that TMDB ratings are generally favorable.</a:t>
            </a:r>
          </a:p>
          <a:p>
            <a:pPr marL="285750" indent="-285750"/>
            <a:r>
              <a:rPr lang="en-US" sz="1800" dirty="0">
                <a:latin typeface="Times New Roman"/>
              </a:rPr>
              <a:t>The </a:t>
            </a:r>
            <a:r>
              <a:rPr lang="en-US" sz="1800" b="1" dirty="0">
                <a:latin typeface="Times New Roman"/>
              </a:rPr>
              <a:t>vote count</a:t>
            </a:r>
            <a:r>
              <a:rPr lang="en-US" sz="1800" dirty="0">
                <a:latin typeface="Times New Roman"/>
              </a:rPr>
              <a:t> distribution revealed that a small number of blockbuster movies attracted the majority of votes, while many low-budget or regional films received fewer votes.</a:t>
            </a:r>
          </a:p>
          <a:p>
            <a:pPr marL="285750" indent="-285750"/>
            <a:r>
              <a:rPr lang="en-US" sz="1800" dirty="0">
                <a:latin typeface="Times New Roman"/>
              </a:rPr>
              <a:t>Analysis of </a:t>
            </a:r>
            <a:r>
              <a:rPr lang="en-US" sz="1800" b="1" dirty="0">
                <a:latin typeface="Times New Roman"/>
              </a:rPr>
              <a:t>release years</a:t>
            </a:r>
            <a:r>
              <a:rPr lang="en-US" sz="1800" dirty="0">
                <a:latin typeface="Times New Roman"/>
              </a:rPr>
              <a:t> showed a sharp rise in movie releases during the </a:t>
            </a:r>
            <a:r>
              <a:rPr lang="en-US" sz="1800" b="1" dirty="0">
                <a:latin typeface="Times New Roman"/>
              </a:rPr>
              <a:t>2010–2020 decade</a:t>
            </a:r>
            <a:r>
              <a:rPr lang="en-US" sz="1800" dirty="0">
                <a:latin typeface="Times New Roman"/>
              </a:rPr>
              <a:t>, reflecting the rapid expansion of global cinema and streaming platforms.</a:t>
            </a:r>
          </a:p>
          <a:p>
            <a:pPr marL="285750" indent="-285750"/>
            <a:r>
              <a:rPr lang="en-US" sz="1800" dirty="0">
                <a:latin typeface="Times New Roman"/>
              </a:rPr>
              <a:t>The </a:t>
            </a:r>
            <a:r>
              <a:rPr lang="en-US" sz="1800" b="1" dirty="0">
                <a:latin typeface="Times New Roman"/>
              </a:rPr>
              <a:t>language distribution</a:t>
            </a:r>
            <a:r>
              <a:rPr lang="en-US" sz="1800" dirty="0">
                <a:latin typeface="Times New Roman"/>
              </a:rPr>
              <a:t> highlighted that </a:t>
            </a:r>
            <a:r>
              <a:rPr lang="en-US" sz="1800" b="1" dirty="0">
                <a:latin typeface="Times New Roman"/>
              </a:rPr>
              <a:t>English movies dominate</a:t>
            </a:r>
            <a:r>
              <a:rPr lang="en-US" sz="1800" dirty="0">
                <a:latin typeface="Times New Roman"/>
              </a:rPr>
              <a:t> the dataset, followed by </a:t>
            </a:r>
            <a:r>
              <a:rPr lang="en-US" sz="1800" b="1" dirty="0">
                <a:latin typeface="Times New Roman"/>
              </a:rPr>
              <a:t>French, Spanish, and Hindi</a:t>
            </a:r>
            <a:r>
              <a:rPr lang="en-US" sz="1800" dirty="0">
                <a:latin typeface="Times New Roman"/>
              </a:rPr>
              <a:t> films.</a:t>
            </a:r>
          </a:p>
          <a:p>
            <a:pPr marL="285750" indent="-285750"/>
            <a:r>
              <a:rPr lang="en-US" sz="1800" dirty="0">
                <a:latin typeface="Times New Roman"/>
              </a:rPr>
              <a:t>I also created </a:t>
            </a:r>
            <a:r>
              <a:rPr lang="en-US" sz="1800" b="1" err="1">
                <a:latin typeface="Times New Roman"/>
              </a:rPr>
              <a:t>countplots</a:t>
            </a:r>
            <a:r>
              <a:rPr lang="en-US" sz="1800" b="1" dirty="0">
                <a:latin typeface="Times New Roman"/>
              </a:rPr>
              <a:t> and bar charts</a:t>
            </a:r>
            <a:r>
              <a:rPr lang="en-US" sz="1800" dirty="0">
                <a:latin typeface="Times New Roman"/>
              </a:rPr>
              <a:t> to visualize the frequency of movies across </a:t>
            </a:r>
            <a:r>
              <a:rPr lang="en-US" sz="1800" b="1" dirty="0">
                <a:latin typeface="Times New Roman"/>
              </a:rPr>
              <a:t>different popularity and rating categories</a:t>
            </a:r>
            <a:r>
              <a:rPr lang="en-US" sz="1800" dirty="0">
                <a:latin typeface="Times New Roman"/>
              </a:rPr>
              <a:t>, making it easier to interpret patterns visually.</a:t>
            </a:r>
          </a:p>
          <a:p>
            <a:pPr>
              <a:buNone/>
            </a:pPr>
            <a:endParaRPr lang="en-US" dirty="0">
              <a:latin typeface="Times New Roman"/>
            </a:endParaRPr>
          </a:p>
          <a:p>
            <a:pPr>
              <a:buNone/>
            </a:pPr>
            <a:endParaRPr lang="en-US" dirty="0"/>
          </a:p>
          <a:p>
            <a:pPr marL="114300" indent="0">
              <a:buNone/>
            </a:pPr>
            <a:endParaRPr lang="en-US" b="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4608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F9F9B-FE63-4B77-6AD0-57FE74932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19" y="24535"/>
            <a:ext cx="11543145" cy="5944610"/>
          </a:xfrm>
        </p:spPr>
        <p:txBody>
          <a:bodyPr/>
          <a:lstStyle/>
          <a:p>
            <a:pPr>
              <a:buNone/>
            </a:pPr>
            <a:endParaRPr lang="en-US"/>
          </a:p>
        </p:txBody>
      </p:sp>
      <p:pic>
        <p:nvPicPr>
          <p:cNvPr id="4" name="Picture 3" descr="A graph with a red line&#10;&#10;AI-generated content may be incorrect.">
            <a:extLst>
              <a:ext uri="{FF2B5EF4-FFF2-40B4-BE49-F238E27FC236}">
                <a16:creationId xmlns:a16="http://schemas.microsoft.com/office/drawing/2014/main" id="{8C5D99AD-D02E-5E80-A884-09A0E16DF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3" y="460376"/>
            <a:ext cx="3191453" cy="1988703"/>
          </a:xfrm>
          <a:prstGeom prst="rect">
            <a:avLst/>
          </a:prstGeom>
        </p:spPr>
      </p:pic>
      <p:pic>
        <p:nvPicPr>
          <p:cNvPr id="5" name="Picture 4" descr="A graph of a box plot&#10;&#10;AI-generated content may be incorrect.">
            <a:extLst>
              <a:ext uri="{FF2B5EF4-FFF2-40B4-BE49-F238E27FC236}">
                <a16:creationId xmlns:a16="http://schemas.microsoft.com/office/drawing/2014/main" id="{945FA0A9-AE32-6D18-3CFB-8923B52A9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992" y="362669"/>
            <a:ext cx="3157107" cy="1976296"/>
          </a:xfrm>
          <a:prstGeom prst="rect">
            <a:avLst/>
          </a:prstGeom>
        </p:spPr>
      </p:pic>
      <p:pic>
        <p:nvPicPr>
          <p:cNvPr id="6" name="Picture 5" descr="A graph of a movie&#10;&#10;AI-generated content may be incorrect.">
            <a:extLst>
              <a:ext uri="{FF2B5EF4-FFF2-40B4-BE49-F238E27FC236}">
                <a16:creationId xmlns:a16="http://schemas.microsoft.com/office/drawing/2014/main" id="{738DDAF1-33AC-5A81-6D59-235D262C4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206" y="359784"/>
            <a:ext cx="3629315" cy="2178340"/>
          </a:xfrm>
          <a:prstGeom prst="rect">
            <a:avLst/>
          </a:prstGeom>
        </p:spPr>
      </p:pic>
      <p:pic>
        <p:nvPicPr>
          <p:cNvPr id="7" name="Picture 6" descr="A diagram of a violin plot&#10;&#10;AI-generated content may be incorrect.">
            <a:extLst>
              <a:ext uri="{FF2B5EF4-FFF2-40B4-BE49-F238E27FC236}">
                <a16:creationId xmlns:a16="http://schemas.microsoft.com/office/drawing/2014/main" id="{B7542945-7A00-0C72-85F9-B725D4B51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90" y="3001238"/>
            <a:ext cx="3181642" cy="2344884"/>
          </a:xfrm>
          <a:prstGeom prst="rect">
            <a:avLst/>
          </a:prstGeom>
        </p:spPr>
      </p:pic>
      <p:pic>
        <p:nvPicPr>
          <p:cNvPr id="8" name="Picture 7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434BBEA6-2C1F-264D-B142-6F80321E2D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6620" y="3003982"/>
            <a:ext cx="3041939" cy="2327852"/>
          </a:xfrm>
          <a:prstGeom prst="rect">
            <a:avLst/>
          </a:prstGeom>
        </p:spPr>
      </p:pic>
      <p:pic>
        <p:nvPicPr>
          <p:cNvPr id="9" name="Picture 8" descr="A graph showing the number of movies released per year&#10;&#10;AI-generated content may be incorrect.">
            <a:extLst>
              <a:ext uri="{FF2B5EF4-FFF2-40B4-BE49-F238E27FC236}">
                <a16:creationId xmlns:a16="http://schemas.microsoft.com/office/drawing/2014/main" id="{38375395-B013-30F0-C9D6-2DB624A1DD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8893" y="2881312"/>
            <a:ext cx="3319031" cy="230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04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EE0EE-3033-7515-AEF4-1538C4463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746" y="763443"/>
            <a:ext cx="11854873" cy="5598247"/>
          </a:xfrm>
        </p:spPr>
        <p:txBody>
          <a:bodyPr>
            <a:normAutofit/>
          </a:bodyPr>
          <a:lstStyle/>
          <a:p>
            <a:pPr marL="114300" indent="0">
              <a:lnSpc>
                <a:spcPct val="120000"/>
              </a:lnSpc>
              <a:buNone/>
            </a:pPr>
            <a:r>
              <a:rPr lang="en-US" sz="2400" b="1" dirty="0">
                <a:latin typeface="Times New Roman"/>
                <a:cs typeface="Times New Roman"/>
              </a:rPr>
              <a:t>4) Bivariate Analysis:</a:t>
            </a:r>
            <a:endParaRPr lang="en-US" sz="2400" dirty="0"/>
          </a:p>
          <a:p>
            <a:pPr>
              <a:buNone/>
            </a:pPr>
            <a:r>
              <a:rPr lang="en-US" sz="2000" dirty="0">
                <a:latin typeface="Times New Roman"/>
              </a:rPr>
              <a:t>In the bivariate analysis, I explored relationships between variables using </a:t>
            </a:r>
            <a:r>
              <a:rPr lang="en-US" sz="2000" b="1" dirty="0">
                <a:latin typeface="Times New Roman"/>
              </a:rPr>
              <a:t>three visualizations —</a:t>
            </a:r>
            <a:endParaRPr lang="en-US" sz="2000" dirty="0">
              <a:latin typeface="Times New Roman"/>
            </a:endParaRPr>
          </a:p>
          <a:p>
            <a:pPr>
              <a:buNone/>
            </a:pPr>
            <a:r>
              <a:rPr lang="en-US" sz="2000" b="1" dirty="0">
                <a:latin typeface="Times New Roman"/>
              </a:rPr>
              <a:t>Bar Plot, Heatmap, and Stacked Bar Chart.</a:t>
            </a:r>
            <a:endParaRPr lang="en-US" sz="2000" dirty="0">
              <a:latin typeface="Times New Roman"/>
            </a:endParaRPr>
          </a:p>
          <a:p>
            <a:pPr marL="285750" indent="-285750"/>
            <a:r>
              <a:rPr lang="en-US" sz="2000" b="1" dirty="0">
                <a:latin typeface="Times New Roman"/>
              </a:rPr>
              <a:t>Bar Plot (Average Rating vs. Language):</a:t>
            </a:r>
            <a:br>
              <a:rPr lang="en-US" sz="2000" b="1" dirty="0">
                <a:latin typeface="Times New Roman"/>
              </a:rPr>
            </a:br>
            <a:r>
              <a:rPr lang="en-US" sz="2000" b="1" dirty="0">
                <a:latin typeface="Times New Roman"/>
              </a:rPr>
              <a:t> Compared the average ratings across different languages</a:t>
            </a:r>
            <a:r>
              <a:rPr lang="en-US" sz="2000" dirty="0">
                <a:latin typeface="Times New Roman"/>
              </a:rPr>
              <a:t>.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 English movies had the most consistent and higher ratings, followed by French and Spanish films.</a:t>
            </a:r>
          </a:p>
          <a:p>
            <a:pPr marL="285750" indent="-285750"/>
            <a:r>
              <a:rPr lang="en-US" sz="2000" b="1" dirty="0">
                <a:latin typeface="Times New Roman"/>
              </a:rPr>
              <a:t>Heatmap (Decade, Average Rating, and Language):</a:t>
            </a:r>
            <a:br>
              <a:rPr lang="en-US" sz="2000" b="1" dirty="0">
                <a:latin typeface="Times New Roman"/>
              </a:rPr>
            </a:br>
            <a:r>
              <a:rPr lang="en-US" sz="2000" b="1" dirty="0">
                <a:latin typeface="Times New Roman"/>
              </a:rPr>
              <a:t> Showed how average ratings varied across decades and languages</a:t>
            </a:r>
            <a:r>
              <a:rPr lang="en-US" sz="2000" dirty="0">
                <a:latin typeface="Times New Roman"/>
              </a:rPr>
              <a:t>.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 The </a:t>
            </a:r>
            <a:r>
              <a:rPr lang="en-US" sz="2000" b="1" dirty="0">
                <a:latin typeface="Times New Roman"/>
              </a:rPr>
              <a:t>2010–2020 decade</a:t>
            </a:r>
            <a:r>
              <a:rPr lang="en-US" sz="2000" dirty="0">
                <a:latin typeface="Times New Roman"/>
              </a:rPr>
              <a:t> had the highest movie activity and slightly better ratings overall.</a:t>
            </a:r>
          </a:p>
          <a:p>
            <a:pPr marL="285750" indent="-285750"/>
            <a:r>
              <a:rPr lang="en-US" sz="2000" b="1" dirty="0">
                <a:latin typeface="Times New Roman"/>
              </a:rPr>
              <a:t>Stacked Bar Chart (Popularity Category, Rating, and Percentage):</a:t>
            </a:r>
            <a:br>
              <a:rPr lang="en-US" sz="2000" b="1" dirty="0">
                <a:latin typeface="Times New Roman"/>
              </a:rPr>
            </a:br>
            <a:r>
              <a:rPr lang="en-US" sz="2000" b="1" dirty="0">
                <a:latin typeface="Times New Roman"/>
              </a:rPr>
              <a:t> Displayed how ratings are distributed across popularity categories</a:t>
            </a:r>
            <a:r>
              <a:rPr lang="en-US" sz="2000" dirty="0">
                <a:latin typeface="Times New Roman"/>
              </a:rPr>
              <a:t>.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 Most movies fall into the </a:t>
            </a:r>
            <a:r>
              <a:rPr lang="en-US" sz="2000" b="1" dirty="0">
                <a:latin typeface="Times New Roman"/>
              </a:rPr>
              <a:t>medium popularity range</a:t>
            </a:r>
            <a:r>
              <a:rPr lang="en-US" sz="2000" dirty="0">
                <a:latin typeface="Times New Roman"/>
              </a:rPr>
              <a:t> with ratings between </a:t>
            </a:r>
            <a:r>
              <a:rPr lang="en-US" sz="2000" b="1" dirty="0">
                <a:latin typeface="Times New Roman"/>
              </a:rPr>
              <a:t>6 and 8</a:t>
            </a:r>
            <a:r>
              <a:rPr lang="en-US" sz="2000" dirty="0">
                <a:latin typeface="Times New Roman"/>
              </a:rPr>
              <a:t>, while highly popular movies often have mixed ratings.</a:t>
            </a:r>
          </a:p>
          <a:p>
            <a:pPr marL="114300" indent="0">
              <a:lnSpc>
                <a:spcPct val="120000"/>
              </a:lnSpc>
              <a:buNone/>
            </a:pPr>
            <a:endParaRPr lang="en-US" sz="2000" dirty="0">
              <a:latin typeface="Times New Roman"/>
            </a:endParaRPr>
          </a:p>
          <a:p>
            <a:pPr>
              <a:lnSpc>
                <a:spcPct val="120000"/>
              </a:lnSpc>
            </a:pPr>
            <a:endParaRPr lang="en-US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2145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284D0-A3B5-8A88-9347-CFA955627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" y="1445"/>
            <a:ext cx="12062690" cy="6175518"/>
          </a:xfrm>
        </p:spPr>
        <p:txBody>
          <a:bodyPr/>
          <a:lstStyle/>
          <a:p>
            <a:pPr marL="114300" indent="0">
              <a:buNone/>
            </a:pPr>
            <a:endParaRPr lang="en-US"/>
          </a:p>
        </p:txBody>
      </p:sp>
      <p:pic>
        <p:nvPicPr>
          <p:cNvPr id="4" name="Picture 3" descr="A graph of average rating by language&#10;&#10;AI-generated content may be incorrect.">
            <a:extLst>
              <a:ext uri="{FF2B5EF4-FFF2-40B4-BE49-F238E27FC236}">
                <a16:creationId xmlns:a16="http://schemas.microsoft.com/office/drawing/2014/main" id="{1AE428A3-F67E-E812-81D4-02FDCDAE2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08" y="575829"/>
            <a:ext cx="4749801" cy="2277342"/>
          </a:xfrm>
          <a:prstGeom prst="rect">
            <a:avLst/>
          </a:prstGeom>
        </p:spPr>
      </p:pic>
      <p:pic>
        <p:nvPicPr>
          <p:cNvPr id="5" name="Picture 4" descr="A bar chart with different colored bars&#10;&#10;AI-generated content may be incorrect.">
            <a:extLst>
              <a:ext uri="{FF2B5EF4-FFF2-40B4-BE49-F238E27FC236}">
                <a16:creationId xmlns:a16="http://schemas.microsoft.com/office/drawing/2014/main" id="{AD745155-BA58-7D12-7D08-3548651DF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15" y="3431455"/>
            <a:ext cx="4605769" cy="2465820"/>
          </a:xfrm>
          <a:prstGeom prst="rect">
            <a:avLst/>
          </a:prstGeom>
        </p:spPr>
      </p:pic>
      <p:pic>
        <p:nvPicPr>
          <p:cNvPr id="6" name="Picture 5" descr="A chart with red and yellow squares&#10;&#10;AI-generated content may be incorrect.">
            <a:extLst>
              <a:ext uri="{FF2B5EF4-FFF2-40B4-BE49-F238E27FC236}">
                <a16:creationId xmlns:a16="http://schemas.microsoft.com/office/drawing/2014/main" id="{03B79BE9-FCC3-DA4E-357F-811673AD7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899" y="568615"/>
            <a:ext cx="6300931" cy="512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377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E18D1-0674-8FF3-F4BB-82A76EADA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746" y="105353"/>
            <a:ext cx="11854872" cy="607161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114300" indent="0">
              <a:buNone/>
            </a:pPr>
            <a:r>
              <a:rPr lang="en-US" b="1" dirty="0">
                <a:latin typeface="Times New Roman"/>
                <a:cs typeface="Times New Roman"/>
              </a:rPr>
              <a:t>5) Multivariate Analysis: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dirty="0">
                <a:latin typeface="Times New Roman"/>
              </a:rPr>
              <a:t>For multivariate analysis, I examined the combined relationship among multiple variables using </a:t>
            </a:r>
            <a:r>
              <a:rPr lang="en-US" sz="2000" b="1" dirty="0">
                <a:latin typeface="Times New Roman"/>
              </a:rPr>
              <a:t>Pair Plot</a:t>
            </a:r>
            <a:r>
              <a:rPr lang="en-US" sz="2000" dirty="0">
                <a:latin typeface="Times New Roman"/>
              </a:rPr>
              <a:t> and </a:t>
            </a:r>
            <a:r>
              <a:rPr lang="en-US" sz="2000" b="1" dirty="0">
                <a:latin typeface="Times New Roman"/>
              </a:rPr>
              <a:t>Scatter Plot</a:t>
            </a:r>
            <a:r>
              <a:rPr lang="en-US" sz="2000" dirty="0">
                <a:latin typeface="Times New Roman"/>
              </a:rPr>
              <a:t> to understand overall movie trends.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/>
              </a:rPr>
              <a:t>Pair Plot (Rating, Vote Count, Popularity, Year):</a:t>
            </a:r>
            <a:br>
              <a:rPr lang="en-US" sz="2000" b="1" dirty="0">
                <a:latin typeface="Times New Roman"/>
              </a:rPr>
            </a:br>
            <a:r>
              <a:rPr lang="en-US" sz="2000" b="1" dirty="0">
                <a:latin typeface="Times New Roman"/>
              </a:rPr>
              <a:t> </a:t>
            </a:r>
            <a:r>
              <a:rPr lang="en-US" sz="2000" dirty="0">
                <a:latin typeface="Times New Roman"/>
              </a:rPr>
              <a:t>The pair plot visualized how these four key features interact with one another</a:t>
            </a:r>
            <a:r>
              <a:rPr lang="en-US" sz="2000" b="1" dirty="0">
                <a:latin typeface="Times New Roman"/>
              </a:rPr>
              <a:t>.</a:t>
            </a:r>
            <a:br>
              <a:rPr lang="en-US" sz="2000" b="1" dirty="0">
                <a:latin typeface="Times New Roman"/>
              </a:rPr>
            </a:br>
            <a:r>
              <a:rPr lang="en-US" sz="2000" b="1" dirty="0">
                <a:latin typeface="Times New Roman"/>
              </a:rPr>
              <a:t> It showed a positive relationship between vote count and popularity</a:t>
            </a:r>
            <a:r>
              <a:rPr lang="en-US" sz="2000" dirty="0">
                <a:latin typeface="Times New Roman"/>
              </a:rPr>
              <a:t>, indicating that movies receiving   more votes tend to be more popular.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 Ratings remained moderately distributed, showing that high popularity does not always mean higher ratings.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 The year dimension helped identify how audience engagement evolved over time.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/>
              </a:rPr>
              <a:t>Scatter Plot (Year, Popularity, Rating):</a:t>
            </a:r>
            <a:br>
              <a:rPr lang="en-US" sz="2000" b="1" dirty="0">
                <a:latin typeface="Times New Roman"/>
              </a:rPr>
            </a:br>
            <a:r>
              <a:rPr lang="en-US" sz="2000" b="1" dirty="0">
                <a:latin typeface="Times New Roman"/>
              </a:rPr>
              <a:t> </a:t>
            </a:r>
            <a:r>
              <a:rPr lang="en-US" sz="2000" dirty="0">
                <a:latin typeface="Times New Roman"/>
              </a:rPr>
              <a:t>The scatter plot illustrated how popularity and rating vary across release years.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 It revealed that </a:t>
            </a:r>
            <a:r>
              <a:rPr lang="en-US" sz="2000" b="1" dirty="0">
                <a:latin typeface="Times New Roman"/>
              </a:rPr>
              <a:t>recent years (2010–2020)</a:t>
            </a:r>
            <a:r>
              <a:rPr lang="en-US" sz="2000" dirty="0">
                <a:latin typeface="Times New Roman"/>
              </a:rPr>
              <a:t> had more movies with higher popularity, 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 Some earlier movies still maintained strong ratings despite lower popularity, showing long-term audience appreciation.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691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72744F64-795B-B0EA-16B8-9FDC98F36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28688"/>
            <a:ext cx="5291666" cy="5000624"/>
          </a:xfrm>
          <a:prstGeom prst="rect">
            <a:avLst/>
          </a:prstGeom>
        </p:spPr>
      </p:pic>
      <p:pic>
        <p:nvPicPr>
          <p:cNvPr id="3" name="Picture 2" descr="A graph with different colored dots&#10;&#10;AI-generated content may be incorrect.">
            <a:extLst>
              <a:ext uri="{FF2B5EF4-FFF2-40B4-BE49-F238E27FC236}">
                <a16:creationId xmlns:a16="http://schemas.microsoft.com/office/drawing/2014/main" id="{35E22EBF-2D5E-CEE8-DBF4-25204E4A6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683" y="1536988"/>
            <a:ext cx="5487939" cy="325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85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2D20D-63C1-4C8A-E90F-D6C451643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</a:rPr>
              <a:t>Key Business Questions Answered: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5E2BB-6071-93E1-879B-685F910EA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457200">
              <a:lnSpc>
                <a:spcPct val="100000"/>
              </a:lnSpc>
              <a:buAutoNum type="arabicPeriod"/>
            </a:pPr>
            <a:r>
              <a:rPr lang="en-US" sz="2000" dirty="0">
                <a:latin typeface="Times New Roman"/>
              </a:rPr>
              <a:t>Which decade produced the highest-rated movies?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→ The 2010–2020 decade.</a:t>
            </a:r>
            <a:endParaRPr lang="en-US" dirty="0"/>
          </a:p>
          <a:p>
            <a:pPr marL="571500" indent="-457200">
              <a:lnSpc>
                <a:spcPct val="100000"/>
              </a:lnSpc>
              <a:buAutoNum type="arabicPeriod"/>
            </a:pPr>
            <a:r>
              <a:rPr lang="en-US" sz="2000" dirty="0">
                <a:latin typeface="Times New Roman"/>
              </a:rPr>
              <a:t>Do higher votes imply higher ratings?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 → Not always, but they often align with popularity.</a:t>
            </a:r>
          </a:p>
          <a:p>
            <a:pPr marL="571500" indent="-457200">
              <a:lnSpc>
                <a:spcPct val="100000"/>
              </a:lnSpc>
              <a:buAutoNum type="arabicPeriod"/>
            </a:pPr>
            <a:r>
              <a:rPr lang="en-US" sz="2000" dirty="0">
                <a:latin typeface="Times New Roman"/>
              </a:rPr>
              <a:t>Which languages dominate the movie market?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 → English, followed by French, Spanish, and Hindi.</a:t>
            </a:r>
            <a:endParaRPr lang="en-US" sz="2000">
              <a:latin typeface="Times New Roman"/>
            </a:endParaRPr>
          </a:p>
          <a:p>
            <a:pPr marL="571500" indent="-457200">
              <a:lnSpc>
                <a:spcPct val="100000"/>
              </a:lnSpc>
              <a:buAutoNum type="arabicPeriod"/>
            </a:pPr>
            <a:r>
              <a:rPr lang="en-US" sz="2000" dirty="0">
                <a:latin typeface="Times New Roman"/>
              </a:rPr>
              <a:t>What are the indicators of a successful movie?</a:t>
            </a:r>
            <a:br>
              <a:rPr lang="en-US" sz="2000" dirty="0">
                <a:latin typeface="Times New Roman"/>
              </a:rPr>
            </a:br>
            <a:r>
              <a:rPr lang="en-US" sz="2000" dirty="0">
                <a:latin typeface="Times New Roman"/>
              </a:rPr>
              <a:t> → Strong ratings, high vote counts, and strong audience popularity.</a:t>
            </a:r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69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B847-69AD-8356-6B77-3018D5EB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</a:rPr>
              <a:t>Conclusion: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91703-DD0C-BBCC-F18E-C52F58965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/>
              </a:rPr>
              <a:t>The TMDB dataset reveals valuable insights into </a:t>
            </a:r>
            <a:r>
              <a:rPr lang="en-US" sz="2000" b="1" dirty="0">
                <a:latin typeface="Times New Roman"/>
              </a:rPr>
              <a:t>movie trends, audience preferences, and performance drivers</a:t>
            </a:r>
            <a:r>
              <a:rPr lang="en-US" sz="2000" dirty="0">
                <a:latin typeface="Times New Roman"/>
              </a:rPr>
              <a:t>.</a:t>
            </a:r>
          </a:p>
          <a:p>
            <a:r>
              <a:rPr lang="en-US" sz="2000" b="1" dirty="0">
                <a:latin typeface="Times New Roman"/>
              </a:rPr>
              <a:t>English-language movies</a:t>
            </a:r>
            <a:r>
              <a:rPr lang="en-US" sz="2000" dirty="0">
                <a:latin typeface="Times New Roman"/>
              </a:rPr>
              <a:t> dominate both in volume and reach, with regional films showing selective success.</a:t>
            </a:r>
          </a:p>
          <a:p>
            <a:r>
              <a:rPr lang="en-US" sz="2000" dirty="0">
                <a:latin typeface="Times New Roman"/>
              </a:rPr>
              <a:t>The </a:t>
            </a:r>
            <a:r>
              <a:rPr lang="en-US" sz="2000" b="1" dirty="0">
                <a:latin typeface="Times New Roman"/>
              </a:rPr>
              <a:t>2010–2020 decade</a:t>
            </a:r>
            <a:r>
              <a:rPr lang="en-US" sz="2000" dirty="0">
                <a:latin typeface="Times New Roman"/>
              </a:rPr>
              <a:t> was the most active and impactful period for movie production.</a:t>
            </a:r>
          </a:p>
          <a:p>
            <a:r>
              <a:rPr lang="en-US" sz="2000" b="1" dirty="0">
                <a:latin typeface="Times New Roman"/>
              </a:rPr>
              <a:t>Popularity and rating</a:t>
            </a:r>
            <a:r>
              <a:rPr lang="en-US" sz="2000" dirty="0">
                <a:latin typeface="Times New Roman"/>
              </a:rPr>
              <a:t> are not always directly related — visibility and engagement often depend on audience scale.</a:t>
            </a:r>
          </a:p>
          <a:p>
            <a:r>
              <a:rPr lang="en-US" sz="2000" dirty="0">
                <a:latin typeface="Times New Roman"/>
              </a:rPr>
              <a:t>Features like </a:t>
            </a:r>
            <a:r>
              <a:rPr lang="en-US" sz="2000" b="1" dirty="0">
                <a:latin typeface="Times New Roman"/>
              </a:rPr>
              <a:t>vote count, language, and decade</a:t>
            </a:r>
            <a:r>
              <a:rPr lang="en-US" sz="2000" dirty="0">
                <a:latin typeface="Times New Roman"/>
              </a:rPr>
              <a:t> play key roles in understanding audience behavior.</a:t>
            </a:r>
          </a:p>
          <a:p>
            <a:r>
              <a:rPr lang="en-US" sz="2000" dirty="0">
                <a:latin typeface="Times New Roman"/>
              </a:rPr>
              <a:t>This analysis demonstrates how </a:t>
            </a:r>
            <a:r>
              <a:rPr lang="en-US" sz="2000" b="1" dirty="0">
                <a:latin typeface="Times New Roman"/>
              </a:rPr>
              <a:t>data-driven insights</a:t>
            </a:r>
            <a:r>
              <a:rPr lang="en-US" sz="2000" dirty="0">
                <a:latin typeface="Times New Roman"/>
              </a:rPr>
              <a:t> can help producers and OTT platforms plan better content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40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9A65-5105-C6EC-8B07-41289CE16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</a:rPr>
              <a:t>Experience &amp; Challenges: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61D8F-CC30-6AE2-FA37-FBCFB7E02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latin typeface="Times New Roman"/>
              </a:rPr>
              <a:t>Handling </a:t>
            </a:r>
            <a:r>
              <a:rPr lang="en-US" sz="2000" b="1" dirty="0">
                <a:latin typeface="Times New Roman"/>
              </a:rPr>
              <a:t>missing and inconsistent data</a:t>
            </a:r>
            <a:r>
              <a:rPr lang="en-US" sz="2000" dirty="0">
                <a:latin typeface="Times New Roman"/>
              </a:rPr>
              <a:t> required detailed preprocessing.</a:t>
            </a:r>
          </a:p>
          <a:p>
            <a:r>
              <a:rPr lang="en-US" sz="2000" dirty="0">
                <a:latin typeface="Times New Roman"/>
              </a:rPr>
              <a:t>Implementing API pagination and avoiding duplicates was challenging.</a:t>
            </a:r>
          </a:p>
          <a:p>
            <a:r>
              <a:rPr lang="en-US" sz="2000" dirty="0">
                <a:latin typeface="Times New Roman"/>
              </a:rPr>
              <a:t>Understanding </a:t>
            </a:r>
            <a:r>
              <a:rPr lang="en-US" sz="2000" b="1" dirty="0">
                <a:latin typeface="Times New Roman"/>
              </a:rPr>
              <a:t>correlations and visual interpretation</a:t>
            </a:r>
            <a:r>
              <a:rPr lang="en-US" sz="2000" dirty="0">
                <a:latin typeface="Times New Roman"/>
              </a:rPr>
              <a:t> took time to refine.</a:t>
            </a:r>
          </a:p>
          <a:p>
            <a:r>
              <a:rPr lang="en-US" sz="2000" dirty="0">
                <a:latin typeface="Times New Roman"/>
              </a:rPr>
              <a:t>Overall, this project improved my skills in </a:t>
            </a:r>
            <a:r>
              <a:rPr lang="en-US" sz="2000" b="1" dirty="0">
                <a:latin typeface="Times New Roman"/>
              </a:rPr>
              <a:t>data analysis, visualization, and storytelling</a:t>
            </a:r>
            <a:r>
              <a:rPr lang="en-US" sz="2000" dirty="0">
                <a:latin typeface="Times New Roman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562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About Us</vt:lpstr>
      <vt:lpstr>Preface:</vt:lpstr>
      <vt:lpstr>Introduction:</vt:lpstr>
      <vt:lpstr>Business Problem:</vt:lpstr>
      <vt:lpstr>Objectives:</vt:lpstr>
      <vt:lpstr>Web Scraping:</vt:lpstr>
      <vt:lpstr>PowerPoint Presentation</vt:lpstr>
      <vt:lpstr>Dataset:</vt:lpstr>
      <vt:lpstr>Exploratory Data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Business Questions Answered:</vt:lpstr>
      <vt:lpstr>Conclusion:</vt:lpstr>
      <vt:lpstr>Experience &amp; Challenges: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revision>578</cp:revision>
  <dcterms:created xsi:type="dcterms:W3CDTF">2021-02-16T05:19:01Z</dcterms:created>
  <dcterms:modified xsi:type="dcterms:W3CDTF">2025-11-08T19:08:44Z</dcterms:modified>
</cp:coreProperties>
</file>